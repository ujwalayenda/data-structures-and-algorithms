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8" r:id="rId3"/>
    <p:sldId id="259" r:id="rId4"/>
    <p:sldId id="260" r:id="rId5"/>
    <p:sldId id="261" r:id="rId6"/>
    <p:sldId id="262" r:id="rId7"/>
    <p:sldId id="263" r:id="rId8"/>
    <p:sldId id="265"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4147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029200" y="320040"/>
            <a:ext cx="3657600" cy="228600"/>
          </a:xfrm>
          <a:prstGeom prst="rect">
            <a:avLst/>
          </a:prstGeom>
          <a:noFill/>
          <a:ln/>
        </p:spPr>
        <p:txBody>
          <a:bodyPr wrap="square" lIns="0" tIns="0" rIns="0" bIns="0" rtlCol="0" anchor="ctr"/>
          <a:lstStyle/>
          <a:p>
            <a:pPr marL="0" indent="0" algn="r">
              <a:buNone/>
            </a:pPr>
            <a:r>
              <a:rPr lang="en-US" sz="900" dirty="0">
                <a:solidFill>
                  <a:srgbClr val="FFFFFF"/>
                </a:solidFill>
                <a:latin typeface="Arial" pitchFamily="34" charset="0"/>
                <a:ea typeface="Arial" pitchFamily="34" charset="-122"/>
                <a:cs typeface="Arial" pitchFamily="34" charset="-120"/>
              </a:rPr>
              <a:t>Mini Project using C  |  Data Structures &amp; Algorithms</a:t>
            </a:r>
            <a:endParaRPr lang="en-US" sz="900" dirty="0"/>
          </a:p>
        </p:txBody>
      </p:sp>
      <p:sp>
        <p:nvSpPr>
          <p:cNvPr id="3" name="Text 1"/>
          <p:cNvSpPr txBox="1"/>
          <p:nvPr/>
        </p:nvSpPr>
        <p:spPr>
          <a:xfrm>
            <a:off x="457200" y="1188720"/>
            <a:ext cx="8229600" cy="1371600"/>
          </a:xfrm>
          <a:prstGeom prst="rect">
            <a:avLst/>
          </a:prstGeom>
          <a:noFill/>
          <a:ln/>
        </p:spPr>
        <p:txBody>
          <a:bodyPr wrap="square" lIns="0" tIns="0" rIns="0" bIns="0" rtlCol="0" anchor="ctr"/>
          <a:lstStyle/>
          <a:p>
            <a:pPr marL="0" indent="0" algn="ctr">
              <a:buNone/>
            </a:pPr>
            <a:r>
              <a:rPr lang="en-US" sz="3400" b="1" dirty="0">
                <a:solidFill>
                  <a:srgbClr val="FFFFFF"/>
                </a:solidFill>
                <a:latin typeface="Arial" pitchFamily="34" charset="0"/>
                <a:ea typeface="Arial" pitchFamily="34" charset="-122"/>
                <a:cs typeface="Arial" pitchFamily="34" charset="-120"/>
              </a:rPr>
              <a:t>CAMPUS ROUTE NAVIGATION</a:t>
            </a:r>
            <a:endParaRPr lang="en-US" sz="3400" dirty="0"/>
          </a:p>
          <a:p>
            <a:pPr marL="0" indent="0" algn="ctr">
              <a:buNone/>
            </a:pPr>
            <a:r>
              <a:rPr lang="en-US" sz="3400" b="1" dirty="0">
                <a:solidFill>
                  <a:srgbClr val="2F7BD6"/>
                </a:solidFill>
                <a:latin typeface="Arial" pitchFamily="34" charset="0"/>
                <a:ea typeface="Arial" pitchFamily="34" charset="-122"/>
                <a:cs typeface="Arial" pitchFamily="34" charset="-120"/>
              </a:rPr>
              <a:t>USING GRAPH TRAVERSALS</a:t>
            </a:r>
            <a:endParaRPr lang="en-US" sz="3400" dirty="0"/>
          </a:p>
        </p:txBody>
      </p:sp>
      <p:sp>
        <p:nvSpPr>
          <p:cNvPr id="4" name="Text 2"/>
          <p:cNvSpPr txBox="1"/>
          <p:nvPr/>
        </p:nvSpPr>
        <p:spPr>
          <a:xfrm>
            <a:off x="1371600" y="2743200"/>
            <a:ext cx="6400800" cy="548640"/>
          </a:xfrm>
          <a:prstGeom prst="rect">
            <a:avLst/>
          </a:prstGeom>
          <a:noFill/>
          <a:ln/>
        </p:spPr>
        <p:txBody>
          <a:bodyPr wrap="square" lIns="0" tIns="0" rIns="0" bIns="0" rtlCol="0" anchor="ctr"/>
          <a:lstStyle/>
          <a:p>
            <a:pPr marL="0" indent="0" algn="ctr">
              <a:buNone/>
            </a:pPr>
            <a:r>
              <a:rPr lang="en-US" sz="1200" b="1" dirty="0">
                <a:solidFill>
                  <a:srgbClr val="E6EEF9"/>
                </a:solidFill>
                <a:latin typeface="Arial" pitchFamily="34" charset="0"/>
                <a:ea typeface="Arial" pitchFamily="34" charset="-122"/>
                <a:cs typeface="Arial" pitchFamily="34" charset="-120"/>
              </a:rPr>
              <a:t>A menu-driven C application that models a college campus as a graph and finds routes between locations using BFS and DFS.</a:t>
            </a:r>
            <a:endParaRPr lang="en-US" sz="1200" b="1" dirty="0">
              <a:solidFill>
                <a:srgbClr val="E6EEF9"/>
              </a:solidFill>
              <a:latin typeface="Arial" pitchFamily="34" charset="0"/>
              <a:cs typeface="Arial" pitchFamily="34" charset="-120"/>
            </a:endParaRPr>
          </a:p>
          <a:p>
            <a:pPr marL="0" indent="0" algn="ctr">
              <a:buNone/>
            </a:pPr>
            <a:endParaRPr lang="en-US" dirty="0">
              <a:solidFill>
                <a:srgbClr val="E6EEF9"/>
              </a:solidFill>
              <a:latin typeface="Arial" pitchFamily="34" charset="0"/>
              <a:cs typeface="Arial" pitchFamily="34" charset="-120"/>
            </a:endParaRPr>
          </a:p>
          <a:p>
            <a:pPr marL="0" indent="0" algn="ctr">
              <a:buNone/>
            </a:pPr>
            <a:r>
              <a:rPr lang="en-US" b="1" dirty="0">
                <a:solidFill>
                  <a:srgbClr val="E6EEF9"/>
                </a:solidFill>
                <a:latin typeface="Arial" pitchFamily="34" charset="0"/>
                <a:cs typeface="Arial" pitchFamily="34" charset="-120"/>
              </a:rPr>
              <a:t>TEAM - 4</a:t>
            </a:r>
            <a:endParaRPr lang="en-US" b="1" dirty="0"/>
          </a:p>
        </p:txBody>
      </p:sp>
      <p:sp>
        <p:nvSpPr>
          <p:cNvPr id="5" name="Text 3"/>
          <p:cNvSpPr txBox="1"/>
          <p:nvPr/>
        </p:nvSpPr>
        <p:spPr>
          <a:xfrm>
            <a:off x="457200" y="3977640"/>
            <a:ext cx="8229600" cy="22860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Ganta Swathi  •  Gunuru Deva Sree Harshini  •  Pooja Singh  •  Puppala SriVarshini  •  Yenda Ujwala</a:t>
            </a:r>
            <a:endParaRPr lang="en-US" sz="1200" dirty="0"/>
          </a:p>
        </p:txBody>
      </p:sp>
      <p:sp>
        <p:nvSpPr>
          <p:cNvPr id="6" name="Text 4"/>
          <p:cNvSpPr txBox="1"/>
          <p:nvPr/>
        </p:nvSpPr>
        <p:spPr>
          <a:xfrm>
            <a:off x="457200" y="4251960"/>
            <a:ext cx="8229600" cy="228600"/>
          </a:xfrm>
          <a:prstGeom prst="rect">
            <a:avLst/>
          </a:prstGeom>
          <a:noFill/>
          <a:ln/>
        </p:spPr>
        <p:txBody>
          <a:bodyPr wrap="square" lIns="0" tIns="0" rIns="0" bIns="0" rtlCol="0" anchor="ctr"/>
          <a:lstStyle/>
          <a:p>
            <a:pPr marL="0" indent="0" algn="ctr">
              <a:buNone/>
            </a:pPr>
            <a:r>
              <a:rPr lang="en-US" sz="1000" dirty="0">
                <a:solidFill>
                  <a:srgbClr val="E6EEF9"/>
                </a:solidFill>
                <a:latin typeface="Arial" pitchFamily="34" charset="0"/>
                <a:ea typeface="Arial" pitchFamily="34" charset="-122"/>
                <a:cs typeface="Arial" pitchFamily="34" charset="-120"/>
              </a:rPr>
              <a:t>Anil Neerukonda Institute of Technology &amp; Sciences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65760"/>
            <a:ext cx="8229600" cy="1005840"/>
          </a:xfrm>
          <a:prstGeom prst="rect">
            <a:avLst/>
          </a:prstGeom>
          <a:noFill/>
          <a:ln/>
        </p:spPr>
        <p:txBody>
          <a:bodyPr wrap="square" lIns="0" tIns="0" rIns="0" bIns="0" rtlCol="0" anchor="t"/>
          <a:lstStyle/>
          <a:p>
            <a:pPr marL="0" indent="0" algn="ctr">
              <a:buNone/>
            </a:pPr>
            <a:r>
              <a:rPr lang="en-US" sz="2400" b="1" dirty="0">
                <a:solidFill>
                  <a:srgbClr val="FFFFFF"/>
                </a:solidFill>
                <a:latin typeface="Arial" pitchFamily="34" charset="0"/>
                <a:ea typeface="Arial" pitchFamily="34" charset="-122"/>
                <a:cs typeface="Arial" pitchFamily="34" charset="-120"/>
              </a:rPr>
              <a:t>OBJECTIVES</a:t>
            </a:r>
            <a:endParaRPr lang="en-US" sz="2400" dirty="0"/>
          </a:p>
          <a:p>
            <a:pPr marL="0" indent="0" algn="ctr">
              <a:buNone/>
            </a:pPr>
            <a:r>
              <a:rPr lang="en-US" sz="2400" b="1" dirty="0">
                <a:solidFill>
                  <a:srgbClr val="2F7BD6"/>
                </a:solidFill>
                <a:latin typeface="Arial" pitchFamily="34" charset="0"/>
                <a:ea typeface="Arial" pitchFamily="34" charset="-122"/>
                <a:cs typeface="Arial" pitchFamily="34" charset="-120"/>
              </a:rPr>
              <a:t>PROJECT GOALS</a:t>
            </a:r>
            <a:endParaRPr lang="en-US" sz="2400" dirty="0"/>
          </a:p>
        </p:txBody>
      </p:sp>
      <p:sp>
        <p:nvSpPr>
          <p:cNvPr id="3" name="Text 1"/>
          <p:cNvSpPr txBox="1"/>
          <p:nvPr/>
        </p:nvSpPr>
        <p:spPr>
          <a:xfrm>
            <a:off x="548640" y="1600200"/>
            <a:ext cx="4389120" cy="2743200"/>
          </a:xfrm>
          <a:prstGeom prst="rect">
            <a:avLst/>
          </a:prstGeom>
          <a:noFill/>
          <a:ln/>
        </p:spPr>
        <p:txBody>
          <a:bodyPr wrap="square" lIns="0" tIns="0" rIns="0" bIns="0" rtlCol="0" anchor="t"/>
          <a:lstStyle/>
          <a:p>
            <a:pPr marL="0" indent="0">
              <a:spcAft>
                <a:spcPts val="1200"/>
              </a:spcAft>
              <a:buNone/>
            </a:pPr>
            <a:r>
              <a:rPr lang="en-US" sz="1100" dirty="0">
                <a:solidFill>
                  <a:srgbClr val="E6EEF9"/>
                </a:solidFill>
                <a:latin typeface="Arial" pitchFamily="34" charset="0"/>
                <a:ea typeface="Arial" pitchFamily="34" charset="-122"/>
                <a:cs typeface="Arial" pitchFamily="34" charset="-120"/>
              </a:rPr>
              <a:t>The project aims to develop a simple campus route navigation system using graph data structures. Campus locations are stored as vertices and roads as edges in an adjacency list.</a:t>
            </a:r>
            <a:endParaRPr lang="en-US" sz="1100" dirty="0"/>
          </a:p>
          <a:p>
            <a:pPr marL="0" indent="0">
              <a:spcAft>
                <a:spcPts val="1200"/>
              </a:spcAft>
              <a:buNone/>
            </a:pPr>
            <a:r>
              <a:rPr lang="en-US" sz="1100" dirty="0">
                <a:solidFill>
                  <a:srgbClr val="E6EEF9"/>
                </a:solidFill>
                <a:latin typeface="Arial" pitchFamily="34" charset="0"/>
                <a:ea typeface="Arial" pitchFamily="34" charset="-122"/>
                <a:cs typeface="Arial" pitchFamily="34" charset="-120"/>
              </a:rPr>
              <a:t>BFS and DFS are used to find a route between two locations, check whether a destination is reachable, and explore the campus, making navigation easier, faster and more organized for students, staff and visitors.</a:t>
            </a:r>
            <a:endParaRPr lang="en-US" sz="1100" dirty="0"/>
          </a:p>
        </p:txBody>
      </p:sp>
      <p:sp>
        <p:nvSpPr>
          <p:cNvPr id="4" name="Shape 2"/>
          <p:cNvSpPr/>
          <p:nvPr/>
        </p:nvSpPr>
        <p:spPr>
          <a:xfrm>
            <a:off x="5303520" y="1554480"/>
            <a:ext cx="3291840" cy="502920"/>
          </a:xfrm>
          <a:prstGeom prst="roundRect">
            <a:avLst>
              <a:gd name="adj" fmla="val 50000"/>
            </a:avLst>
          </a:prstGeom>
          <a:solidFill>
            <a:srgbClr val="0B4A98"/>
          </a:solidFill>
          <a:ln/>
        </p:spPr>
      </p:sp>
      <p:sp>
        <p:nvSpPr>
          <p:cNvPr id="5" name="Text 3"/>
          <p:cNvSpPr txBox="1"/>
          <p:nvPr/>
        </p:nvSpPr>
        <p:spPr>
          <a:xfrm>
            <a:off x="5303520" y="1554480"/>
            <a:ext cx="32918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Model Campus as a Graph</a:t>
            </a:r>
            <a:endParaRPr lang="en-US" sz="1400" dirty="0"/>
          </a:p>
        </p:txBody>
      </p:sp>
      <p:sp>
        <p:nvSpPr>
          <p:cNvPr id="6" name="Shape 4"/>
          <p:cNvSpPr/>
          <p:nvPr/>
        </p:nvSpPr>
        <p:spPr>
          <a:xfrm>
            <a:off x="5303520" y="2286000"/>
            <a:ext cx="3291840" cy="502920"/>
          </a:xfrm>
          <a:prstGeom prst="roundRect">
            <a:avLst>
              <a:gd name="adj" fmla="val 50000"/>
            </a:avLst>
          </a:prstGeom>
          <a:solidFill>
            <a:srgbClr val="0B4A98"/>
          </a:solidFill>
          <a:ln/>
        </p:spPr>
      </p:sp>
      <p:sp>
        <p:nvSpPr>
          <p:cNvPr id="7" name="Text 5"/>
          <p:cNvSpPr txBox="1"/>
          <p:nvPr/>
        </p:nvSpPr>
        <p:spPr>
          <a:xfrm>
            <a:off x="5303520" y="2286000"/>
            <a:ext cx="32918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Adjacency List Storage</a:t>
            </a:r>
            <a:endParaRPr lang="en-US" sz="1400" dirty="0"/>
          </a:p>
        </p:txBody>
      </p:sp>
      <p:sp>
        <p:nvSpPr>
          <p:cNvPr id="8" name="Shape 6"/>
          <p:cNvSpPr/>
          <p:nvPr/>
        </p:nvSpPr>
        <p:spPr>
          <a:xfrm>
            <a:off x="5303520" y="3017520"/>
            <a:ext cx="3291840" cy="502920"/>
          </a:xfrm>
          <a:prstGeom prst="roundRect">
            <a:avLst>
              <a:gd name="adj" fmla="val 50000"/>
            </a:avLst>
          </a:prstGeom>
          <a:solidFill>
            <a:srgbClr val="0B4A98"/>
          </a:solidFill>
          <a:ln/>
        </p:spPr>
      </p:sp>
      <p:sp>
        <p:nvSpPr>
          <p:cNvPr id="9" name="Text 7"/>
          <p:cNvSpPr txBox="1"/>
          <p:nvPr/>
        </p:nvSpPr>
        <p:spPr>
          <a:xfrm>
            <a:off x="5303520" y="3017520"/>
            <a:ext cx="32918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Shortest Route using BFS</a:t>
            </a:r>
            <a:endParaRPr lang="en-US" sz="1400" dirty="0"/>
          </a:p>
        </p:txBody>
      </p:sp>
      <p:sp>
        <p:nvSpPr>
          <p:cNvPr id="10" name="Shape 8"/>
          <p:cNvSpPr/>
          <p:nvPr/>
        </p:nvSpPr>
        <p:spPr>
          <a:xfrm>
            <a:off x="5303520" y="3749040"/>
            <a:ext cx="3291840" cy="502920"/>
          </a:xfrm>
          <a:prstGeom prst="roundRect">
            <a:avLst>
              <a:gd name="adj" fmla="val 50000"/>
            </a:avLst>
          </a:prstGeom>
          <a:solidFill>
            <a:srgbClr val="0B4A98"/>
          </a:solidFill>
          <a:ln/>
        </p:spPr>
      </p:sp>
      <p:sp>
        <p:nvSpPr>
          <p:cNvPr id="11" name="Text 9"/>
          <p:cNvSpPr txBox="1"/>
          <p:nvPr/>
        </p:nvSpPr>
        <p:spPr>
          <a:xfrm>
            <a:off x="5303520" y="3749040"/>
            <a:ext cx="32918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Campus Exploration using DFS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57200"/>
            <a:ext cx="4572000" cy="1005840"/>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PROBLEM</a:t>
            </a:r>
            <a:endParaRPr lang="en-US" sz="3000" dirty="0"/>
          </a:p>
          <a:p>
            <a:pPr marL="0" indent="0" algn="l">
              <a:buNone/>
            </a:pPr>
            <a:r>
              <a:rPr lang="en-US" sz="3000" b="1" dirty="0">
                <a:solidFill>
                  <a:srgbClr val="2F7BD6"/>
                </a:solidFill>
                <a:latin typeface="Arial" pitchFamily="34" charset="0"/>
                <a:ea typeface="Arial" pitchFamily="34" charset="-122"/>
                <a:cs typeface="Arial" pitchFamily="34" charset="-120"/>
              </a:rPr>
              <a:t>STATEMENT</a:t>
            </a:r>
            <a:endParaRPr lang="en-US" sz="3000" dirty="0"/>
          </a:p>
        </p:txBody>
      </p:sp>
      <p:sp>
        <p:nvSpPr>
          <p:cNvPr id="3" name="Text 1"/>
          <p:cNvSpPr txBox="1"/>
          <p:nvPr/>
        </p:nvSpPr>
        <p:spPr>
          <a:xfrm>
            <a:off x="548640" y="1691640"/>
            <a:ext cx="4754880" cy="2926080"/>
          </a:xfrm>
          <a:prstGeom prst="rect">
            <a:avLst/>
          </a:prstGeom>
          <a:noFill/>
          <a:ln/>
        </p:spPr>
        <p:txBody>
          <a:bodyPr wrap="square" lIns="0" tIns="0" rIns="0" bIns="0" rtlCol="0" anchor="t"/>
          <a:lstStyle/>
          <a:p>
            <a:pPr marL="0" indent="0">
              <a:spcAft>
                <a:spcPts val="1200"/>
              </a:spcAft>
              <a:buNone/>
            </a:pPr>
            <a:r>
              <a:rPr lang="en-US" sz="1100" dirty="0">
                <a:solidFill>
                  <a:srgbClr val="E6EEF9"/>
                </a:solidFill>
                <a:latin typeface="Arial" pitchFamily="34" charset="0"/>
                <a:ea typeface="Arial" pitchFamily="34" charset="-122"/>
                <a:cs typeface="Arial" pitchFamily="34" charset="-120"/>
              </a:rPr>
              <a:t>Navigating a large campus is difficult for students, faculty, visitors and especially new students. A campus has many locations (Main Gate, Admin , CSE and ECE Blocks, Canteen, Hostels, Open Auditorium, Bus Area </a:t>
            </a:r>
            <a:r>
              <a:rPr lang="en-US" sz="1100" dirty="0" err="1">
                <a:solidFill>
                  <a:srgbClr val="E6EEF9"/>
                </a:solidFill>
                <a:latin typeface="Arial" pitchFamily="34" charset="0"/>
                <a:ea typeface="Arial" pitchFamily="34" charset="-122"/>
                <a:cs typeface="Arial" pitchFamily="34" charset="-120"/>
              </a:rPr>
              <a:t>etc</a:t>
            </a:r>
            <a:r>
              <a:rPr lang="en-US" sz="1100" dirty="0">
                <a:solidFill>
                  <a:srgbClr val="E6EEF9"/>
                </a:solidFill>
                <a:latin typeface="Arial" pitchFamily="34" charset="0"/>
                <a:ea typeface="Arial" pitchFamily="34" charset="-122"/>
                <a:cs typeface="Arial" pitchFamily="34" charset="-120"/>
              </a:rPr>
              <a:t>) joined by multiple roads.</a:t>
            </a:r>
            <a:endParaRPr lang="en-US" sz="1100" dirty="0"/>
          </a:p>
          <a:p>
            <a:pPr marL="0" indent="0">
              <a:spcAft>
                <a:spcPts val="1200"/>
              </a:spcAft>
              <a:buNone/>
            </a:pPr>
            <a:r>
              <a:rPr lang="en-US" sz="1100" dirty="0">
                <a:solidFill>
                  <a:srgbClr val="E6EEF9"/>
                </a:solidFill>
                <a:latin typeface="Arial" pitchFamily="34" charset="0"/>
                <a:ea typeface="Arial" pitchFamily="34" charset="-122"/>
                <a:cs typeface="Arial" pitchFamily="34" charset="-120"/>
              </a:rPr>
              <a:t>Finding a suitable route manually is time-consuming and confusing. The campus is therefore modeled as an undirected graph, and BFS and DFS provide a systematic way to find and display routes.</a:t>
            </a:r>
            <a:endParaRPr lang="en-US" sz="1100" dirty="0"/>
          </a:p>
        </p:txBody>
      </p:sp>
      <p:sp>
        <p:nvSpPr>
          <p:cNvPr id="4" name="Shape 2"/>
          <p:cNvSpPr/>
          <p:nvPr/>
        </p:nvSpPr>
        <p:spPr>
          <a:xfrm>
            <a:off x="5669280" y="1234440"/>
            <a:ext cx="2926080" cy="2926080"/>
          </a:xfrm>
          <a:prstGeom prst="ellipse">
            <a:avLst/>
          </a:prstGeom>
          <a:solidFill>
            <a:srgbClr val="0D3F8F"/>
          </a:solidFill>
          <a:ln/>
        </p:spPr>
      </p:sp>
      <p:sp>
        <p:nvSpPr>
          <p:cNvPr id="5" name="Shape 3"/>
          <p:cNvSpPr/>
          <p:nvPr/>
        </p:nvSpPr>
        <p:spPr>
          <a:xfrm>
            <a:off x="5797296" y="1362456"/>
            <a:ext cx="2670048" cy="2670048"/>
          </a:xfrm>
          <a:prstGeom prst="ellipse">
            <a:avLst/>
          </a:prstGeom>
          <a:solidFill>
            <a:srgbClr val="06214F"/>
          </a:solidFill>
          <a:ln/>
        </p:spPr>
      </p:sp>
      <p:sp>
        <p:nvSpPr>
          <p:cNvPr id="6" name="Text 4"/>
          <p:cNvSpPr txBox="1"/>
          <p:nvPr/>
        </p:nvSpPr>
        <p:spPr>
          <a:xfrm>
            <a:off x="6126480" y="1691640"/>
            <a:ext cx="2011680" cy="2011680"/>
          </a:xfrm>
          <a:prstGeom prst="rect">
            <a:avLst/>
          </a:prstGeom>
          <a:noFill/>
          <a:ln/>
        </p:spPr>
        <p:txBody>
          <a:bodyPr wrap="square" lIns="0" tIns="0" rIns="0" bIns="0" rtlCol="0" anchor="ctr"/>
          <a:lstStyle/>
          <a:p>
            <a:pPr marL="0" indent="0" algn="l">
              <a:buNone/>
            </a:pPr>
            <a:r>
              <a:rPr lang="en-US" sz="1300" dirty="0">
                <a:solidFill>
                  <a:srgbClr val="E6EEF9"/>
                </a:solidFill>
                <a:latin typeface="Arial" pitchFamily="34" charset="0"/>
                <a:ea typeface="Arial" pitchFamily="34" charset="-122"/>
                <a:cs typeface="Arial" pitchFamily="34" charset="-120"/>
              </a:rPr>
              <a:t>• Many buildings</a:t>
            </a:r>
            <a:endParaRPr lang="en-US" sz="1300" dirty="0"/>
          </a:p>
          <a:p>
            <a:pPr marL="0" indent="0" algn="l">
              <a:buNone/>
            </a:pPr>
            <a:r>
              <a:rPr lang="en-US" sz="1300" dirty="0">
                <a:solidFill>
                  <a:srgbClr val="E6EEF9"/>
                </a:solidFill>
                <a:latin typeface="Arial" pitchFamily="34" charset="0"/>
                <a:ea typeface="Arial" pitchFamily="34" charset="-122"/>
                <a:cs typeface="Arial" pitchFamily="34" charset="-120"/>
              </a:rPr>
              <a:t>• Multiple roads</a:t>
            </a:r>
            <a:endParaRPr lang="en-US" sz="1300" dirty="0"/>
          </a:p>
          <a:p>
            <a:pPr marL="0" indent="0" algn="l">
              <a:buNone/>
            </a:pPr>
            <a:r>
              <a:rPr lang="en-US" sz="1300" dirty="0">
                <a:solidFill>
                  <a:srgbClr val="E6EEF9"/>
                </a:solidFill>
                <a:latin typeface="Arial" pitchFamily="34" charset="0"/>
                <a:ea typeface="Arial" pitchFamily="34" charset="-122"/>
                <a:cs typeface="Arial" pitchFamily="34" charset="-120"/>
              </a:rPr>
              <a:t>• Confusing for visitors</a:t>
            </a:r>
            <a:endParaRPr lang="en-US" sz="1300" dirty="0"/>
          </a:p>
          <a:p>
            <a:pPr marL="0" indent="0" algn="l">
              <a:buNone/>
            </a:pPr>
            <a:r>
              <a:rPr lang="en-US" sz="1300" dirty="0">
                <a:solidFill>
                  <a:srgbClr val="E6EEF9"/>
                </a:solidFill>
                <a:latin typeface="Arial" pitchFamily="34" charset="0"/>
                <a:ea typeface="Arial" pitchFamily="34" charset="-122"/>
                <a:cs typeface="Arial" pitchFamily="34" charset="-120"/>
              </a:rPr>
              <a:t>• Manual search is slow</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11480"/>
            <a:ext cx="5029200" cy="1005840"/>
          </a:xfrm>
          <a:prstGeom prst="rect">
            <a:avLst/>
          </a:prstGeom>
          <a:noFill/>
          <a:ln/>
        </p:spPr>
        <p:txBody>
          <a:bodyPr wrap="square" lIns="0" tIns="0" rIns="0" bIns="0" rtlCol="0" anchor="t"/>
          <a:lstStyle/>
          <a:p>
            <a:pPr marL="0" indent="0" algn="l">
              <a:buNone/>
            </a:pPr>
            <a:r>
              <a:rPr lang="en-US" sz="2600" b="1" dirty="0">
                <a:solidFill>
                  <a:srgbClr val="FFFFFF"/>
                </a:solidFill>
                <a:latin typeface="Arial" pitchFamily="34" charset="0"/>
                <a:ea typeface="Arial" pitchFamily="34" charset="-122"/>
                <a:cs typeface="Arial" pitchFamily="34" charset="-120"/>
              </a:rPr>
              <a:t>TECHNOLOGIES USED</a:t>
            </a:r>
            <a:endParaRPr lang="en-US" sz="2600" dirty="0"/>
          </a:p>
          <a:p>
            <a:pPr marL="0" indent="0" algn="l">
              <a:buNone/>
            </a:pPr>
            <a:r>
              <a:rPr lang="en-US" sz="2600" b="1" dirty="0">
                <a:solidFill>
                  <a:srgbClr val="2F7BD6"/>
                </a:solidFill>
                <a:latin typeface="Arial" pitchFamily="34" charset="0"/>
                <a:ea typeface="Arial" pitchFamily="34" charset="-122"/>
                <a:cs typeface="Arial" pitchFamily="34" charset="-120"/>
              </a:rPr>
              <a:t>IN THIS PROJECT</a:t>
            </a:r>
            <a:endParaRPr lang="en-US" sz="2600" dirty="0"/>
          </a:p>
        </p:txBody>
      </p:sp>
      <p:sp>
        <p:nvSpPr>
          <p:cNvPr id="3" name="Text 1"/>
          <p:cNvSpPr txBox="1"/>
          <p:nvPr/>
        </p:nvSpPr>
        <p:spPr>
          <a:xfrm>
            <a:off x="548640" y="1554480"/>
            <a:ext cx="4846320" cy="1097280"/>
          </a:xfrm>
          <a:prstGeom prst="rect">
            <a:avLst/>
          </a:prstGeom>
          <a:noFill/>
          <a:ln/>
        </p:spPr>
        <p:txBody>
          <a:bodyPr wrap="square" lIns="0" tIns="0" rIns="0" bIns="0" rtlCol="0" anchor="t"/>
          <a:lstStyle/>
          <a:p>
            <a:pPr marL="0" indent="0">
              <a:spcAft>
                <a:spcPts val="1200"/>
              </a:spcAft>
              <a:buNone/>
            </a:pPr>
            <a:r>
              <a:rPr lang="en-US" sz="1100" dirty="0">
                <a:solidFill>
                  <a:srgbClr val="E6EEF9"/>
                </a:solidFill>
                <a:latin typeface="Arial" pitchFamily="34" charset="0"/>
                <a:ea typeface="Arial" pitchFamily="34" charset="-122"/>
                <a:cs typeface="Arial" pitchFamily="34" charset="-120"/>
              </a:rPr>
              <a:t>The system is written in C and combines fundamental data-structure concepts: a graph stored as an adjacency list, a queue for BFS, and recursion for DFS, all driven by a menu-based console interface.</a:t>
            </a:r>
            <a:endParaRPr lang="en-US" sz="1100" dirty="0"/>
          </a:p>
        </p:txBody>
      </p:sp>
      <p:sp>
        <p:nvSpPr>
          <p:cNvPr id="4" name="Shape 2"/>
          <p:cNvSpPr/>
          <p:nvPr/>
        </p:nvSpPr>
        <p:spPr>
          <a:xfrm>
            <a:off x="548640" y="2743200"/>
            <a:ext cx="2377440" cy="502920"/>
          </a:xfrm>
          <a:prstGeom prst="roundRect">
            <a:avLst>
              <a:gd name="adj" fmla="val 50000"/>
            </a:avLst>
          </a:prstGeom>
          <a:solidFill>
            <a:srgbClr val="0B4A98"/>
          </a:solidFill>
          <a:ln w="15875">
            <a:solidFill>
              <a:srgbClr val="FFFFFF"/>
            </a:solidFill>
            <a:prstDash val="solid"/>
          </a:ln>
        </p:spPr>
      </p:sp>
      <p:sp>
        <p:nvSpPr>
          <p:cNvPr id="5" name="Text 3"/>
          <p:cNvSpPr txBox="1"/>
          <p:nvPr/>
        </p:nvSpPr>
        <p:spPr>
          <a:xfrm>
            <a:off x="548640" y="2743200"/>
            <a:ext cx="23774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 Programming</a:t>
            </a:r>
            <a:endParaRPr lang="en-US" sz="1200" dirty="0"/>
          </a:p>
        </p:txBody>
      </p:sp>
      <p:sp>
        <p:nvSpPr>
          <p:cNvPr id="6" name="Shape 4"/>
          <p:cNvSpPr/>
          <p:nvPr/>
        </p:nvSpPr>
        <p:spPr>
          <a:xfrm>
            <a:off x="3063240" y="2743200"/>
            <a:ext cx="2377440" cy="502920"/>
          </a:xfrm>
          <a:prstGeom prst="roundRect">
            <a:avLst>
              <a:gd name="adj" fmla="val 50000"/>
            </a:avLst>
          </a:prstGeom>
          <a:solidFill>
            <a:srgbClr val="0B4A98"/>
          </a:solidFill>
          <a:ln w="15875">
            <a:solidFill>
              <a:srgbClr val="FFFFFF"/>
            </a:solidFill>
            <a:prstDash val="solid"/>
          </a:ln>
        </p:spPr>
      </p:sp>
      <p:sp>
        <p:nvSpPr>
          <p:cNvPr id="7" name="Text 5"/>
          <p:cNvSpPr txBox="1"/>
          <p:nvPr/>
        </p:nvSpPr>
        <p:spPr>
          <a:xfrm>
            <a:off x="3063240" y="2743200"/>
            <a:ext cx="23774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Adjacency List Graph</a:t>
            </a:r>
            <a:endParaRPr lang="en-US" sz="1200" dirty="0"/>
          </a:p>
        </p:txBody>
      </p:sp>
      <p:sp>
        <p:nvSpPr>
          <p:cNvPr id="8" name="Shape 6"/>
          <p:cNvSpPr/>
          <p:nvPr/>
        </p:nvSpPr>
        <p:spPr>
          <a:xfrm>
            <a:off x="548640" y="3429000"/>
            <a:ext cx="2377440" cy="502920"/>
          </a:xfrm>
          <a:prstGeom prst="roundRect">
            <a:avLst>
              <a:gd name="adj" fmla="val 50000"/>
            </a:avLst>
          </a:prstGeom>
          <a:solidFill>
            <a:srgbClr val="0B4A98"/>
          </a:solidFill>
          <a:ln w="15875">
            <a:solidFill>
              <a:srgbClr val="FFFFFF"/>
            </a:solidFill>
            <a:prstDash val="solid"/>
          </a:ln>
        </p:spPr>
      </p:sp>
      <p:sp>
        <p:nvSpPr>
          <p:cNvPr id="9" name="Text 7"/>
          <p:cNvSpPr txBox="1"/>
          <p:nvPr/>
        </p:nvSpPr>
        <p:spPr>
          <a:xfrm>
            <a:off x="548640" y="3429000"/>
            <a:ext cx="23774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BFS using Queue</a:t>
            </a:r>
            <a:endParaRPr lang="en-US" sz="1200" dirty="0"/>
          </a:p>
        </p:txBody>
      </p:sp>
      <p:sp>
        <p:nvSpPr>
          <p:cNvPr id="10" name="Shape 8"/>
          <p:cNvSpPr/>
          <p:nvPr/>
        </p:nvSpPr>
        <p:spPr>
          <a:xfrm>
            <a:off x="3063240" y="3429000"/>
            <a:ext cx="2377440" cy="502920"/>
          </a:xfrm>
          <a:prstGeom prst="roundRect">
            <a:avLst>
              <a:gd name="adj" fmla="val 50000"/>
            </a:avLst>
          </a:prstGeom>
          <a:solidFill>
            <a:srgbClr val="0B4A98"/>
          </a:solidFill>
          <a:ln w="15875">
            <a:solidFill>
              <a:srgbClr val="FFFFFF"/>
            </a:solidFill>
            <a:prstDash val="solid"/>
          </a:ln>
        </p:spPr>
      </p:sp>
      <p:sp>
        <p:nvSpPr>
          <p:cNvPr id="11" name="Text 9"/>
          <p:cNvSpPr txBox="1"/>
          <p:nvPr/>
        </p:nvSpPr>
        <p:spPr>
          <a:xfrm>
            <a:off x="3063240" y="3429000"/>
            <a:ext cx="23774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DFS using Recursion</a:t>
            </a:r>
            <a:endParaRPr lang="en-US" sz="1200" dirty="0"/>
          </a:p>
        </p:txBody>
      </p:sp>
      <p:sp>
        <p:nvSpPr>
          <p:cNvPr id="12" name="Shape 10"/>
          <p:cNvSpPr/>
          <p:nvPr/>
        </p:nvSpPr>
        <p:spPr>
          <a:xfrm>
            <a:off x="5669280" y="1234440"/>
            <a:ext cx="2926080" cy="2926080"/>
          </a:xfrm>
          <a:prstGeom prst="ellipse">
            <a:avLst/>
          </a:prstGeom>
          <a:solidFill>
            <a:srgbClr val="0D3F8F"/>
          </a:solidFill>
          <a:ln/>
        </p:spPr>
      </p:sp>
      <p:sp>
        <p:nvSpPr>
          <p:cNvPr id="13" name="Shape 11"/>
          <p:cNvSpPr/>
          <p:nvPr/>
        </p:nvSpPr>
        <p:spPr>
          <a:xfrm>
            <a:off x="5797296" y="1362456"/>
            <a:ext cx="2670048" cy="2670048"/>
          </a:xfrm>
          <a:prstGeom prst="ellipse">
            <a:avLst/>
          </a:prstGeom>
          <a:solidFill>
            <a:srgbClr val="06214F"/>
          </a:solidFill>
          <a:ln/>
        </p:spPr>
      </p:sp>
      <p:sp>
        <p:nvSpPr>
          <p:cNvPr id="14" name="Text 12"/>
          <p:cNvSpPr txBox="1"/>
          <p:nvPr/>
        </p:nvSpPr>
        <p:spPr>
          <a:xfrm>
            <a:off x="6126480" y="1691640"/>
            <a:ext cx="2011680" cy="2011680"/>
          </a:xfrm>
          <a:prstGeom prst="rect">
            <a:avLst/>
          </a:prstGeom>
          <a:noFill/>
          <a:ln/>
        </p:spPr>
        <p:txBody>
          <a:bodyPr wrap="square" lIns="0" tIns="0" rIns="0" bIns="0" rtlCol="0" anchor="ctr"/>
          <a:lstStyle/>
          <a:p>
            <a:pPr marL="0" indent="0" algn="l">
              <a:buNone/>
            </a:pPr>
            <a:r>
              <a:rPr lang="en-US" sz="1050" dirty="0">
                <a:solidFill>
                  <a:srgbClr val="E6EEF9"/>
                </a:solidFill>
                <a:latin typeface="Courier New" pitchFamily="34" charset="0"/>
                <a:ea typeface="Courier New" pitchFamily="34" charset="-122"/>
                <a:cs typeface="Courier New" pitchFamily="34" charset="-120"/>
              </a:rPr>
              <a:t>typedef struct {</a:t>
            </a:r>
            <a:endParaRPr lang="en-US" sz="1050" dirty="0"/>
          </a:p>
          <a:p>
            <a:pPr marL="0" indent="0" algn="l">
              <a:buNone/>
            </a:pPr>
            <a:r>
              <a:rPr lang="en-US" sz="1050" dirty="0">
                <a:solidFill>
                  <a:srgbClr val="E6EEF9"/>
                </a:solidFill>
                <a:latin typeface="Courier New" pitchFamily="34" charset="0"/>
                <a:ea typeface="Courier New" pitchFamily="34" charset="-122"/>
                <a:cs typeface="Courier New" pitchFamily="34" charset="-120"/>
              </a:rPr>
              <a:t>  char name[50];</a:t>
            </a:r>
            <a:endParaRPr lang="en-US" sz="1050" dirty="0"/>
          </a:p>
          <a:p>
            <a:pPr marL="0" indent="0" algn="l">
              <a:buNone/>
            </a:pPr>
            <a:r>
              <a:rPr lang="en-US" sz="1050" dirty="0">
                <a:solidFill>
                  <a:srgbClr val="E6EEF9"/>
                </a:solidFill>
                <a:latin typeface="Courier New" pitchFamily="34" charset="0"/>
                <a:ea typeface="Courier New" pitchFamily="34" charset="-122"/>
                <a:cs typeface="Courier New" pitchFamily="34" charset="-120"/>
              </a:rPr>
              <a:t>  int adj[MAX];</a:t>
            </a:r>
            <a:endParaRPr lang="en-US" sz="1050" dirty="0"/>
          </a:p>
          <a:p>
            <a:pPr marL="0" indent="0" algn="l">
              <a:buNone/>
            </a:pPr>
            <a:r>
              <a:rPr lang="en-US" sz="1050" dirty="0">
                <a:solidFill>
                  <a:srgbClr val="E6EEF9"/>
                </a:solidFill>
                <a:latin typeface="Courier New" pitchFamily="34" charset="0"/>
                <a:ea typeface="Courier New" pitchFamily="34" charset="-122"/>
                <a:cs typeface="Courier New" pitchFamily="34" charset="-120"/>
              </a:rPr>
              <a:t>  int adjCount;</a:t>
            </a:r>
            <a:endParaRPr lang="en-US" sz="1050" dirty="0"/>
          </a:p>
          <a:p>
            <a:pPr marL="0" indent="0" algn="l">
              <a:buNone/>
            </a:pPr>
            <a:r>
              <a:rPr lang="en-US" sz="1050" dirty="0">
                <a:solidFill>
                  <a:srgbClr val="E6EEF9"/>
                </a:solidFill>
                <a:latin typeface="Courier New" pitchFamily="34" charset="0"/>
                <a:ea typeface="Courier New" pitchFamily="34" charset="-122"/>
                <a:cs typeface="Courier New" pitchFamily="34" charset="-120"/>
              </a:rPr>
              <a:t>} Location;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11480"/>
            <a:ext cx="5029200" cy="1005840"/>
          </a:xfrm>
          <a:prstGeom prst="rect">
            <a:avLst/>
          </a:prstGeom>
          <a:noFill/>
          <a:ln/>
        </p:spPr>
        <p:txBody>
          <a:bodyPr wrap="square" lIns="0" tIns="0" rIns="0" bIns="0" rtlCol="0" anchor="t"/>
          <a:lstStyle/>
          <a:p>
            <a:pPr marL="0" indent="0" algn="l">
              <a:buNone/>
            </a:pPr>
            <a:r>
              <a:rPr lang="en-US" sz="2400" b="1" dirty="0">
                <a:solidFill>
                  <a:srgbClr val="FFFFFF"/>
                </a:solidFill>
                <a:latin typeface="Arial" pitchFamily="34" charset="0"/>
                <a:ea typeface="Arial" pitchFamily="34" charset="-122"/>
                <a:cs typeface="Arial" pitchFamily="34" charset="-120"/>
              </a:rPr>
              <a:t>FEATURES OF THE SYSTEM</a:t>
            </a:r>
            <a:endParaRPr lang="en-US" sz="2400" dirty="0"/>
          </a:p>
          <a:p>
            <a:pPr marL="0" indent="0" algn="l">
              <a:buNone/>
            </a:pPr>
            <a:r>
              <a:rPr lang="en-US" sz="2400" b="1" dirty="0">
                <a:solidFill>
                  <a:srgbClr val="2F7BD6"/>
                </a:solidFill>
                <a:latin typeface="Arial" pitchFamily="34" charset="0"/>
                <a:ea typeface="Arial" pitchFamily="34" charset="-122"/>
                <a:cs typeface="Arial" pitchFamily="34" charset="-120"/>
              </a:rPr>
              <a:t>KEY FUNCTIONALITIES</a:t>
            </a:r>
            <a:endParaRPr lang="en-US" sz="2400" dirty="0"/>
          </a:p>
        </p:txBody>
      </p:sp>
      <p:sp>
        <p:nvSpPr>
          <p:cNvPr id="3" name="Text 1"/>
          <p:cNvSpPr txBox="1"/>
          <p:nvPr/>
        </p:nvSpPr>
        <p:spPr>
          <a:xfrm>
            <a:off x="548640" y="1554480"/>
            <a:ext cx="4846320" cy="1097280"/>
          </a:xfrm>
          <a:prstGeom prst="rect">
            <a:avLst/>
          </a:prstGeom>
          <a:noFill/>
          <a:ln/>
        </p:spPr>
        <p:txBody>
          <a:bodyPr wrap="square" lIns="0" tIns="0" rIns="0" bIns="0" rtlCol="0" anchor="t"/>
          <a:lstStyle/>
          <a:p>
            <a:pPr marL="0" indent="0">
              <a:spcAft>
                <a:spcPts val="1200"/>
              </a:spcAft>
              <a:buNone/>
            </a:pPr>
            <a:r>
              <a:rPr lang="en-US" sz="1100" dirty="0">
                <a:solidFill>
                  <a:srgbClr val="E6EEF9"/>
                </a:solidFill>
                <a:latin typeface="Arial" pitchFamily="34" charset="0"/>
                <a:ea typeface="Arial" pitchFamily="34" charset="-122"/>
                <a:cs typeface="Arial" pitchFamily="34" charset="-120"/>
              </a:rPr>
              <a:t>The program offers a five-option menu so users can explore the campus and find routes with minimal effort. Invalid locations are caught and reported with an error message.</a:t>
            </a:r>
            <a:endParaRPr lang="en-US" sz="1100" dirty="0"/>
          </a:p>
        </p:txBody>
      </p:sp>
      <p:sp>
        <p:nvSpPr>
          <p:cNvPr id="4" name="Shape 2"/>
          <p:cNvSpPr/>
          <p:nvPr/>
        </p:nvSpPr>
        <p:spPr>
          <a:xfrm>
            <a:off x="548640" y="2743200"/>
            <a:ext cx="2377440" cy="502920"/>
          </a:xfrm>
          <a:prstGeom prst="roundRect">
            <a:avLst>
              <a:gd name="adj" fmla="val 50000"/>
            </a:avLst>
          </a:prstGeom>
          <a:solidFill>
            <a:srgbClr val="0B4A98"/>
          </a:solidFill>
          <a:ln w="15875">
            <a:solidFill>
              <a:srgbClr val="FFFFFF"/>
            </a:solidFill>
            <a:prstDash val="solid"/>
          </a:ln>
        </p:spPr>
      </p:sp>
      <p:sp>
        <p:nvSpPr>
          <p:cNvPr id="5" name="Text 3"/>
          <p:cNvSpPr txBox="1"/>
          <p:nvPr/>
        </p:nvSpPr>
        <p:spPr>
          <a:xfrm>
            <a:off x="548640" y="2743200"/>
            <a:ext cx="23774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Display Locations</a:t>
            </a:r>
            <a:endParaRPr lang="en-US" sz="1200" dirty="0"/>
          </a:p>
        </p:txBody>
      </p:sp>
      <p:sp>
        <p:nvSpPr>
          <p:cNvPr id="6" name="Shape 4"/>
          <p:cNvSpPr/>
          <p:nvPr/>
        </p:nvSpPr>
        <p:spPr>
          <a:xfrm>
            <a:off x="3063240" y="2743200"/>
            <a:ext cx="2377440" cy="502920"/>
          </a:xfrm>
          <a:prstGeom prst="roundRect">
            <a:avLst>
              <a:gd name="adj" fmla="val 50000"/>
            </a:avLst>
          </a:prstGeom>
          <a:solidFill>
            <a:srgbClr val="0B4A98"/>
          </a:solidFill>
          <a:ln w="15875">
            <a:solidFill>
              <a:srgbClr val="FFFFFF"/>
            </a:solidFill>
            <a:prstDash val="solid"/>
          </a:ln>
        </p:spPr>
      </p:sp>
      <p:sp>
        <p:nvSpPr>
          <p:cNvPr id="7" name="Text 5"/>
          <p:cNvSpPr txBox="1"/>
          <p:nvPr/>
        </p:nvSpPr>
        <p:spPr>
          <a:xfrm>
            <a:off x="3063240" y="2743200"/>
            <a:ext cx="23774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Campus Map</a:t>
            </a:r>
            <a:endParaRPr lang="en-US" sz="1200" dirty="0"/>
          </a:p>
        </p:txBody>
      </p:sp>
      <p:sp>
        <p:nvSpPr>
          <p:cNvPr id="8" name="Shape 6"/>
          <p:cNvSpPr/>
          <p:nvPr/>
        </p:nvSpPr>
        <p:spPr>
          <a:xfrm>
            <a:off x="548640" y="3429000"/>
            <a:ext cx="2377440" cy="502920"/>
          </a:xfrm>
          <a:prstGeom prst="roundRect">
            <a:avLst>
              <a:gd name="adj" fmla="val 50000"/>
            </a:avLst>
          </a:prstGeom>
          <a:solidFill>
            <a:srgbClr val="0B4A98"/>
          </a:solidFill>
          <a:ln w="15875">
            <a:solidFill>
              <a:srgbClr val="FFFFFF"/>
            </a:solidFill>
            <a:prstDash val="solid"/>
          </a:ln>
        </p:spPr>
      </p:sp>
      <p:sp>
        <p:nvSpPr>
          <p:cNvPr id="9" name="Text 7"/>
          <p:cNvSpPr txBox="1"/>
          <p:nvPr/>
        </p:nvSpPr>
        <p:spPr>
          <a:xfrm>
            <a:off x="548640" y="3429000"/>
            <a:ext cx="23774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Shortest Route (BFS)</a:t>
            </a:r>
            <a:endParaRPr lang="en-US" sz="1200" dirty="0"/>
          </a:p>
        </p:txBody>
      </p:sp>
      <p:sp>
        <p:nvSpPr>
          <p:cNvPr id="10" name="Shape 8"/>
          <p:cNvSpPr/>
          <p:nvPr/>
        </p:nvSpPr>
        <p:spPr>
          <a:xfrm>
            <a:off x="3063240" y="3429000"/>
            <a:ext cx="2377440" cy="502920"/>
          </a:xfrm>
          <a:prstGeom prst="roundRect">
            <a:avLst>
              <a:gd name="adj" fmla="val 50000"/>
            </a:avLst>
          </a:prstGeom>
          <a:solidFill>
            <a:srgbClr val="0B4A98"/>
          </a:solidFill>
          <a:ln w="15875">
            <a:solidFill>
              <a:srgbClr val="FFFFFF"/>
            </a:solidFill>
            <a:prstDash val="solid"/>
          </a:ln>
        </p:spPr>
      </p:sp>
      <p:sp>
        <p:nvSpPr>
          <p:cNvPr id="11" name="Text 9"/>
          <p:cNvSpPr txBox="1"/>
          <p:nvPr/>
        </p:nvSpPr>
        <p:spPr>
          <a:xfrm>
            <a:off x="3063240" y="3429000"/>
            <a:ext cx="23774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Explore Campus (DFS)</a:t>
            </a:r>
            <a:endParaRPr lang="en-US" sz="1200" dirty="0"/>
          </a:p>
        </p:txBody>
      </p:sp>
      <p:sp>
        <p:nvSpPr>
          <p:cNvPr id="12" name="Shape 10"/>
          <p:cNvSpPr/>
          <p:nvPr/>
        </p:nvSpPr>
        <p:spPr>
          <a:xfrm>
            <a:off x="5669280" y="1234440"/>
            <a:ext cx="2926080" cy="2926080"/>
          </a:xfrm>
          <a:prstGeom prst="ellipse">
            <a:avLst/>
          </a:prstGeom>
          <a:solidFill>
            <a:srgbClr val="0D3F8F"/>
          </a:solidFill>
          <a:ln/>
        </p:spPr>
      </p:sp>
      <p:sp>
        <p:nvSpPr>
          <p:cNvPr id="13" name="Shape 11"/>
          <p:cNvSpPr/>
          <p:nvPr/>
        </p:nvSpPr>
        <p:spPr>
          <a:xfrm>
            <a:off x="5797296" y="1362456"/>
            <a:ext cx="2670048" cy="2670048"/>
          </a:xfrm>
          <a:prstGeom prst="ellipse">
            <a:avLst/>
          </a:prstGeom>
          <a:solidFill>
            <a:srgbClr val="06214F"/>
          </a:solidFill>
          <a:ln/>
        </p:spPr>
      </p:sp>
      <p:sp>
        <p:nvSpPr>
          <p:cNvPr id="14" name="Text 12"/>
          <p:cNvSpPr txBox="1"/>
          <p:nvPr/>
        </p:nvSpPr>
        <p:spPr>
          <a:xfrm>
            <a:off x="6126480" y="1691640"/>
            <a:ext cx="2011680" cy="2011680"/>
          </a:xfrm>
          <a:prstGeom prst="rect">
            <a:avLst/>
          </a:prstGeom>
          <a:noFill/>
          <a:ln/>
        </p:spPr>
        <p:txBody>
          <a:bodyPr wrap="square" lIns="0" tIns="0" rIns="0" bIns="0" rtlCol="0" anchor="ctr"/>
          <a:lstStyle/>
          <a:p>
            <a:pPr marL="0" indent="0" algn="l">
              <a:buNone/>
            </a:pPr>
            <a:r>
              <a:rPr lang="en-US" sz="850" dirty="0">
                <a:solidFill>
                  <a:srgbClr val="E6EEF9"/>
                </a:solidFill>
                <a:latin typeface="Courier New" pitchFamily="34" charset="0"/>
                <a:ea typeface="Courier New" pitchFamily="34" charset="-122"/>
                <a:cs typeface="Courier New" pitchFamily="34" charset="-120"/>
              </a:rPr>
              <a:t>CAMPUS ROUTE NAVIGATION</a:t>
            </a:r>
            <a:endParaRPr lang="en-US" sz="850" dirty="0"/>
          </a:p>
          <a:p>
            <a:pPr marL="0" indent="0" algn="l">
              <a:buNone/>
            </a:pPr>
            <a:r>
              <a:rPr lang="en-US" sz="850" dirty="0">
                <a:solidFill>
                  <a:srgbClr val="E6EEF9"/>
                </a:solidFill>
                <a:latin typeface="Courier New" pitchFamily="34" charset="0"/>
                <a:ea typeface="Courier New" pitchFamily="34" charset="-122"/>
                <a:cs typeface="Courier New" pitchFamily="34" charset="-120"/>
              </a:rPr>
              <a:t>1. Display Locations</a:t>
            </a:r>
            <a:endParaRPr lang="en-US" sz="850" dirty="0"/>
          </a:p>
          <a:p>
            <a:pPr marL="0" indent="0" algn="l">
              <a:buNone/>
            </a:pPr>
            <a:r>
              <a:rPr lang="en-US" sz="850" dirty="0">
                <a:solidFill>
                  <a:srgbClr val="E6EEF9"/>
                </a:solidFill>
                <a:latin typeface="Courier New" pitchFamily="34" charset="0"/>
                <a:ea typeface="Courier New" pitchFamily="34" charset="-122"/>
                <a:cs typeface="Courier New" pitchFamily="34" charset="-120"/>
              </a:rPr>
              <a:t>2. Display Campus Map</a:t>
            </a:r>
            <a:endParaRPr lang="en-US" sz="850" dirty="0"/>
          </a:p>
          <a:p>
            <a:pPr marL="0" indent="0" algn="l">
              <a:buNone/>
            </a:pPr>
            <a:r>
              <a:rPr lang="en-US" sz="850" dirty="0">
                <a:solidFill>
                  <a:srgbClr val="E6EEF9"/>
                </a:solidFill>
                <a:latin typeface="Courier New" pitchFamily="34" charset="0"/>
                <a:ea typeface="Courier New" pitchFamily="34" charset="-122"/>
                <a:cs typeface="Courier New" pitchFamily="34" charset="-120"/>
              </a:rPr>
              <a:t>3. Find Shortest Route (BFS)</a:t>
            </a:r>
            <a:endParaRPr lang="en-US" sz="850" dirty="0"/>
          </a:p>
          <a:p>
            <a:pPr marL="0" indent="0" algn="l">
              <a:buNone/>
            </a:pPr>
            <a:r>
              <a:rPr lang="en-US" sz="850" dirty="0">
                <a:solidFill>
                  <a:srgbClr val="E6EEF9"/>
                </a:solidFill>
                <a:latin typeface="Courier New" pitchFamily="34" charset="0"/>
                <a:ea typeface="Courier New" pitchFamily="34" charset="-122"/>
                <a:cs typeface="Courier New" pitchFamily="34" charset="-120"/>
              </a:rPr>
              <a:t>4. Explore Campus (DFS)</a:t>
            </a:r>
            <a:endParaRPr lang="en-US" sz="850" dirty="0"/>
          </a:p>
          <a:p>
            <a:pPr marL="0" indent="0" algn="l">
              <a:buNone/>
            </a:pPr>
            <a:r>
              <a:rPr lang="en-US" sz="850" dirty="0">
                <a:solidFill>
                  <a:srgbClr val="E6EEF9"/>
                </a:solidFill>
                <a:latin typeface="Courier New" pitchFamily="34" charset="0"/>
                <a:ea typeface="Courier New" pitchFamily="34" charset="-122"/>
                <a:cs typeface="Courier New" pitchFamily="34" charset="-120"/>
              </a:rPr>
              <a:t>5. Exit</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65760"/>
            <a:ext cx="8229600" cy="1005840"/>
          </a:xfrm>
          <a:prstGeom prst="rect">
            <a:avLst/>
          </a:prstGeom>
          <a:noFill/>
          <a:ln/>
        </p:spPr>
        <p:txBody>
          <a:bodyPr wrap="square" lIns="0" tIns="0" rIns="0" bIns="0" rtlCol="0" anchor="t"/>
          <a:lstStyle/>
          <a:p>
            <a:pPr marL="0" indent="0" algn="ctr">
              <a:buNone/>
            </a:pPr>
            <a:r>
              <a:rPr lang="en-US" sz="2200" b="1" dirty="0">
                <a:solidFill>
                  <a:srgbClr val="FFFFFF"/>
                </a:solidFill>
                <a:latin typeface="Arial" pitchFamily="34" charset="0"/>
                <a:ea typeface="Arial" pitchFamily="34" charset="-122"/>
                <a:cs typeface="Arial" pitchFamily="34" charset="-120"/>
              </a:rPr>
              <a:t>STEPS / WORKING PROCESS</a:t>
            </a:r>
            <a:endParaRPr lang="en-US" sz="2200" dirty="0"/>
          </a:p>
          <a:p>
            <a:pPr marL="0" indent="0" algn="ctr">
              <a:buNone/>
            </a:pPr>
            <a:r>
              <a:rPr lang="en-US" sz="2200" b="1" dirty="0">
                <a:solidFill>
                  <a:srgbClr val="2F7BD6"/>
                </a:solidFill>
                <a:latin typeface="Arial" pitchFamily="34" charset="0"/>
                <a:ea typeface="Arial" pitchFamily="34" charset="-122"/>
                <a:cs typeface="Arial" pitchFamily="34" charset="-120"/>
              </a:rPr>
              <a:t>DEVELOPMENT WORKFLOW</a:t>
            </a:r>
            <a:endParaRPr lang="en-US" sz="2200" dirty="0"/>
          </a:p>
        </p:txBody>
      </p:sp>
      <p:sp>
        <p:nvSpPr>
          <p:cNvPr id="3" name="Text 1"/>
          <p:cNvSpPr txBox="1"/>
          <p:nvPr/>
        </p:nvSpPr>
        <p:spPr>
          <a:xfrm>
            <a:off x="548640" y="1600200"/>
            <a:ext cx="4389120" cy="2743200"/>
          </a:xfrm>
          <a:prstGeom prst="rect">
            <a:avLst/>
          </a:prstGeom>
          <a:noFill/>
          <a:ln/>
        </p:spPr>
        <p:txBody>
          <a:bodyPr wrap="square" lIns="0" tIns="0" rIns="0" bIns="0" rtlCol="0" anchor="t"/>
          <a:lstStyle/>
          <a:p>
            <a:pPr marL="0" indent="0">
              <a:spcAft>
                <a:spcPts val="1200"/>
              </a:spcAft>
              <a:buNone/>
            </a:pPr>
            <a:r>
              <a:rPr lang="en-US" sz="1100" dirty="0">
                <a:solidFill>
                  <a:srgbClr val="E6EEF9"/>
                </a:solidFill>
                <a:latin typeface="Arial" pitchFamily="34" charset="0"/>
                <a:ea typeface="Arial" pitchFamily="34" charset="-122"/>
                <a:cs typeface="Arial" pitchFamily="34" charset="-120"/>
              </a:rPr>
              <a:t>The user enters a source and a destination. The system builds the campus graph (13 locations, 20 two-way roads) and applies BFS or DFS to search from the source.</a:t>
            </a:r>
            <a:endParaRPr lang="en-US" sz="1100" dirty="0"/>
          </a:p>
          <a:p>
            <a:pPr marL="0" indent="0">
              <a:spcAft>
                <a:spcPts val="1200"/>
              </a:spcAft>
              <a:buNone/>
            </a:pPr>
            <a:r>
              <a:rPr lang="en-US" sz="1100" dirty="0">
                <a:solidFill>
                  <a:srgbClr val="E6EEF9"/>
                </a:solidFill>
                <a:latin typeface="Arial" pitchFamily="34" charset="0"/>
                <a:ea typeface="Arial" pitchFamily="34" charset="-122"/>
                <a:cs typeface="Arial" pitchFamily="34" charset="-120"/>
              </a:rPr>
              <a:t>BFS stores the parent of every visited location, so once the destination is reached the route is rebuilt backwards and displayed with the number of roads.</a:t>
            </a:r>
            <a:endParaRPr lang="en-US" sz="1100" dirty="0"/>
          </a:p>
        </p:txBody>
      </p:sp>
      <p:sp>
        <p:nvSpPr>
          <p:cNvPr id="4" name="Shape 2"/>
          <p:cNvSpPr/>
          <p:nvPr/>
        </p:nvSpPr>
        <p:spPr>
          <a:xfrm>
            <a:off x="5303520" y="1554480"/>
            <a:ext cx="3291840" cy="502920"/>
          </a:xfrm>
          <a:prstGeom prst="roundRect">
            <a:avLst>
              <a:gd name="adj" fmla="val 50000"/>
            </a:avLst>
          </a:prstGeom>
          <a:solidFill>
            <a:srgbClr val="0B4A98"/>
          </a:solidFill>
          <a:ln/>
        </p:spPr>
      </p:sp>
      <p:sp>
        <p:nvSpPr>
          <p:cNvPr id="5" name="Text 3"/>
          <p:cNvSpPr txBox="1"/>
          <p:nvPr/>
        </p:nvSpPr>
        <p:spPr>
          <a:xfrm>
            <a:off x="5303520" y="1554480"/>
            <a:ext cx="329184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 Enter Source &amp; Destination</a:t>
            </a:r>
            <a:endParaRPr lang="en-US" sz="1300" dirty="0"/>
          </a:p>
        </p:txBody>
      </p:sp>
      <p:sp>
        <p:nvSpPr>
          <p:cNvPr id="6" name="Shape 4"/>
          <p:cNvSpPr/>
          <p:nvPr/>
        </p:nvSpPr>
        <p:spPr>
          <a:xfrm>
            <a:off x="5303520" y="2286000"/>
            <a:ext cx="3291840" cy="502920"/>
          </a:xfrm>
          <a:prstGeom prst="roundRect">
            <a:avLst>
              <a:gd name="adj" fmla="val 50000"/>
            </a:avLst>
          </a:prstGeom>
          <a:solidFill>
            <a:srgbClr val="0B4A98"/>
          </a:solidFill>
          <a:ln/>
        </p:spPr>
      </p:sp>
      <p:sp>
        <p:nvSpPr>
          <p:cNvPr id="7" name="Text 5"/>
          <p:cNvSpPr txBox="1"/>
          <p:nvPr/>
        </p:nvSpPr>
        <p:spPr>
          <a:xfrm>
            <a:off x="5303520" y="2286000"/>
            <a:ext cx="329184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 Build Campus Graph</a:t>
            </a:r>
            <a:endParaRPr lang="en-US" sz="1300" dirty="0"/>
          </a:p>
        </p:txBody>
      </p:sp>
      <p:sp>
        <p:nvSpPr>
          <p:cNvPr id="8" name="Shape 6"/>
          <p:cNvSpPr/>
          <p:nvPr/>
        </p:nvSpPr>
        <p:spPr>
          <a:xfrm>
            <a:off x="5303520" y="3017520"/>
            <a:ext cx="3291840" cy="502920"/>
          </a:xfrm>
          <a:prstGeom prst="roundRect">
            <a:avLst>
              <a:gd name="adj" fmla="val 50000"/>
            </a:avLst>
          </a:prstGeom>
          <a:solidFill>
            <a:srgbClr val="0B4A98"/>
          </a:solidFill>
          <a:ln/>
        </p:spPr>
      </p:sp>
      <p:sp>
        <p:nvSpPr>
          <p:cNvPr id="9" name="Text 7"/>
          <p:cNvSpPr txBox="1"/>
          <p:nvPr/>
        </p:nvSpPr>
        <p:spPr>
          <a:xfrm>
            <a:off x="5303520" y="3017520"/>
            <a:ext cx="329184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 Apply BFS / DFS</a:t>
            </a:r>
            <a:endParaRPr lang="en-US" sz="1300" dirty="0"/>
          </a:p>
        </p:txBody>
      </p:sp>
      <p:sp>
        <p:nvSpPr>
          <p:cNvPr id="10" name="Shape 8"/>
          <p:cNvSpPr/>
          <p:nvPr/>
        </p:nvSpPr>
        <p:spPr>
          <a:xfrm>
            <a:off x="5303520" y="3749040"/>
            <a:ext cx="3291840" cy="502920"/>
          </a:xfrm>
          <a:prstGeom prst="roundRect">
            <a:avLst>
              <a:gd name="adj" fmla="val 50000"/>
            </a:avLst>
          </a:prstGeom>
          <a:solidFill>
            <a:srgbClr val="0B4A98"/>
          </a:solidFill>
          <a:ln/>
        </p:spPr>
      </p:sp>
      <p:sp>
        <p:nvSpPr>
          <p:cNvPr id="11" name="Text 9"/>
          <p:cNvSpPr txBox="1"/>
          <p:nvPr/>
        </p:nvSpPr>
        <p:spPr>
          <a:xfrm>
            <a:off x="5303520" y="3749040"/>
            <a:ext cx="329184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 Display Route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65760"/>
            <a:ext cx="8229600" cy="1005840"/>
          </a:xfrm>
          <a:prstGeom prst="rect">
            <a:avLst/>
          </a:prstGeom>
          <a:noFill/>
          <a:ln/>
        </p:spPr>
        <p:txBody>
          <a:bodyPr wrap="square" lIns="0" tIns="0" rIns="0" bIns="0" rtlCol="0" anchor="t"/>
          <a:lstStyle/>
          <a:p>
            <a:pPr marL="0" indent="0" algn="ctr">
              <a:buNone/>
            </a:pPr>
            <a:r>
              <a:rPr lang="en-US" sz="2400" b="1" dirty="0">
                <a:solidFill>
                  <a:srgbClr val="FFFFFF"/>
                </a:solidFill>
                <a:latin typeface="Arial" pitchFamily="34" charset="0"/>
                <a:ea typeface="Arial" pitchFamily="34" charset="-122"/>
                <a:cs typeface="Arial" pitchFamily="34" charset="-120"/>
              </a:rPr>
              <a:t>RESULTS</a:t>
            </a:r>
            <a:endParaRPr lang="en-US" sz="2400" dirty="0"/>
          </a:p>
          <a:p>
            <a:pPr marL="0" indent="0" algn="ctr">
              <a:buNone/>
            </a:pPr>
            <a:r>
              <a:rPr lang="en-US" sz="2400" b="1" dirty="0">
                <a:solidFill>
                  <a:srgbClr val="2F7BD6"/>
                </a:solidFill>
                <a:latin typeface="Arial" pitchFamily="34" charset="0"/>
                <a:ea typeface="Arial" pitchFamily="34" charset="-122"/>
                <a:cs typeface="Arial" pitchFamily="34" charset="-120"/>
              </a:rPr>
              <a:t>BFS SHORTEST ROUTE</a:t>
            </a:r>
            <a:endParaRPr lang="en-US" sz="2400" dirty="0"/>
          </a:p>
        </p:txBody>
      </p:sp>
      <p:sp>
        <p:nvSpPr>
          <p:cNvPr id="3" name="Text 1"/>
          <p:cNvSpPr txBox="1"/>
          <p:nvPr/>
        </p:nvSpPr>
        <p:spPr>
          <a:xfrm>
            <a:off x="548640" y="1600200"/>
            <a:ext cx="4023360" cy="2743200"/>
          </a:xfrm>
          <a:prstGeom prst="rect">
            <a:avLst/>
          </a:prstGeom>
          <a:noFill/>
          <a:ln/>
        </p:spPr>
        <p:txBody>
          <a:bodyPr wrap="square" lIns="0" tIns="0" rIns="0" bIns="0" rtlCol="0" anchor="t"/>
          <a:lstStyle/>
          <a:p>
            <a:pPr marL="0" indent="0">
              <a:spcAft>
                <a:spcPts val="1200"/>
              </a:spcAft>
              <a:buNone/>
            </a:pPr>
            <a:r>
              <a:rPr lang="en-US" sz="1100" dirty="0">
                <a:solidFill>
                  <a:srgbClr val="E6EEF9"/>
                </a:solidFill>
                <a:latin typeface="Arial" pitchFamily="34" charset="0"/>
                <a:ea typeface="Arial" pitchFamily="34" charset="-122"/>
                <a:cs typeface="Arial" pitchFamily="34" charset="-120"/>
              </a:rPr>
              <a:t>Example: the user selects Main Gate as the start and Cafeteria as the destination. BFS visits locations level by level and rebuilds the route from the stored parents.</a:t>
            </a:r>
            <a:endParaRPr lang="en-US" sz="1100" dirty="0"/>
          </a:p>
          <a:p>
            <a:pPr marL="0" indent="0">
              <a:spcAft>
                <a:spcPts val="1200"/>
              </a:spcAft>
              <a:buNone/>
            </a:pPr>
            <a:r>
              <a:rPr lang="en-US" sz="1100" dirty="0">
                <a:solidFill>
                  <a:srgbClr val="E6EEF9"/>
                </a:solidFill>
                <a:latin typeface="Arial" pitchFamily="34" charset="0"/>
                <a:ea typeface="Arial" pitchFamily="34" charset="-122"/>
                <a:cs typeface="Arial" pitchFamily="34" charset="-120"/>
              </a:rPr>
              <a:t>DFS from any chosen start prints every connected location, and an invalid name shows an error message.</a:t>
            </a:r>
            <a:endParaRPr lang="en-US" sz="1100" dirty="0"/>
          </a:p>
        </p:txBody>
      </p:sp>
      <p:sp>
        <p:nvSpPr>
          <p:cNvPr id="4" name="Text 2"/>
          <p:cNvSpPr txBox="1"/>
          <p:nvPr/>
        </p:nvSpPr>
        <p:spPr>
          <a:xfrm>
            <a:off x="5029200" y="1600200"/>
            <a:ext cx="3566160" cy="1097280"/>
          </a:xfrm>
          <a:prstGeom prst="rect">
            <a:avLst/>
          </a:prstGeom>
          <a:noFill/>
          <a:ln/>
        </p:spPr>
        <p:txBody>
          <a:bodyPr wrap="square" lIns="0" tIns="0" rIns="0" bIns="0" rtlCol="0" anchor="ctr"/>
          <a:lstStyle/>
          <a:p>
            <a:pPr algn="ctr"/>
            <a:r>
              <a:rPr lang="en-US" sz="1500" b="1" dirty="0">
                <a:solidFill>
                  <a:srgbClr val="4FD1FF"/>
                </a:solidFill>
                <a:latin typeface="Arial" pitchFamily="34" charset="0"/>
                <a:ea typeface="Arial" pitchFamily="34" charset="-122"/>
                <a:cs typeface="Arial" pitchFamily="34" charset="-120"/>
              </a:rPr>
              <a:t>Main Gate → Admin Block → CSE Block → Mechanical Block → Food Engine</a:t>
            </a:r>
            <a:endParaRPr lang="en-US" sz="1500" dirty="0"/>
          </a:p>
        </p:txBody>
      </p:sp>
      <p:sp>
        <p:nvSpPr>
          <p:cNvPr id="5" name="Shape 3"/>
          <p:cNvSpPr/>
          <p:nvPr/>
        </p:nvSpPr>
        <p:spPr>
          <a:xfrm>
            <a:off x="5303520" y="2926080"/>
            <a:ext cx="3017520" cy="502920"/>
          </a:xfrm>
          <a:prstGeom prst="roundRect">
            <a:avLst>
              <a:gd name="adj" fmla="val 50000"/>
            </a:avLst>
          </a:prstGeom>
          <a:solidFill>
            <a:srgbClr val="0B4A98"/>
          </a:solidFill>
          <a:ln/>
        </p:spPr>
      </p:sp>
      <p:sp>
        <p:nvSpPr>
          <p:cNvPr id="6" name="Text 4"/>
          <p:cNvSpPr txBox="1"/>
          <p:nvPr/>
        </p:nvSpPr>
        <p:spPr>
          <a:xfrm>
            <a:off x="5303520" y="2926080"/>
            <a:ext cx="30175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Number of roads: 4</a:t>
            </a:r>
            <a:endParaRPr lang="en-US" sz="1500" dirty="0"/>
          </a:p>
        </p:txBody>
      </p:sp>
      <p:sp>
        <p:nvSpPr>
          <p:cNvPr id="7" name="Shape 5"/>
          <p:cNvSpPr/>
          <p:nvPr/>
        </p:nvSpPr>
        <p:spPr>
          <a:xfrm>
            <a:off x="5303520" y="3611880"/>
            <a:ext cx="3017520" cy="502920"/>
          </a:xfrm>
          <a:prstGeom prst="roundRect">
            <a:avLst>
              <a:gd name="adj" fmla="val 50000"/>
            </a:avLst>
          </a:prstGeom>
          <a:solidFill>
            <a:srgbClr val="0B4A98"/>
          </a:solidFill>
          <a:ln/>
        </p:spPr>
      </p:sp>
      <p:sp>
        <p:nvSpPr>
          <p:cNvPr id="8" name="Text 6"/>
          <p:cNvSpPr txBox="1"/>
          <p:nvPr/>
        </p:nvSpPr>
        <p:spPr>
          <a:xfrm>
            <a:off x="5303520" y="3611880"/>
            <a:ext cx="30175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Complexity: O(V + 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365760"/>
            <a:ext cx="8229600" cy="1005840"/>
          </a:xfrm>
          <a:prstGeom prst="rect">
            <a:avLst/>
          </a:prstGeom>
          <a:noFill/>
          <a:ln/>
        </p:spPr>
        <p:txBody>
          <a:bodyPr wrap="square" lIns="0" tIns="0" rIns="0" bIns="0" rtlCol="0" anchor="t"/>
          <a:lstStyle/>
          <a:p>
            <a:pPr marL="0" indent="0" algn="ctr">
              <a:buNone/>
            </a:pPr>
            <a:r>
              <a:rPr lang="en-US" sz="2200" b="1" dirty="0">
                <a:solidFill>
                  <a:srgbClr val="FFFFFF"/>
                </a:solidFill>
                <a:latin typeface="Arial" pitchFamily="34" charset="0"/>
                <a:ea typeface="Arial" pitchFamily="34" charset="-122"/>
                <a:cs typeface="Arial" pitchFamily="34" charset="-120"/>
              </a:rPr>
              <a:t>FUTURE ENHANCEMENTS</a:t>
            </a:r>
            <a:endParaRPr lang="en-US" sz="2200" dirty="0"/>
          </a:p>
          <a:p>
            <a:pPr marL="0" indent="0" algn="ctr">
              <a:buNone/>
            </a:pPr>
            <a:r>
              <a:rPr lang="en-US" sz="2200" b="1" dirty="0">
                <a:solidFill>
                  <a:srgbClr val="2F7BD6"/>
                </a:solidFill>
                <a:latin typeface="Arial" pitchFamily="34" charset="0"/>
                <a:ea typeface="Arial" pitchFamily="34" charset="-122"/>
                <a:cs typeface="Arial" pitchFamily="34" charset="-120"/>
              </a:rPr>
              <a:t>PLANNED IMPROVEMENTS</a:t>
            </a:r>
            <a:endParaRPr lang="en-US" sz="2200" dirty="0"/>
          </a:p>
        </p:txBody>
      </p:sp>
      <p:sp>
        <p:nvSpPr>
          <p:cNvPr id="3" name="Text 1"/>
          <p:cNvSpPr txBox="1"/>
          <p:nvPr/>
        </p:nvSpPr>
        <p:spPr>
          <a:xfrm>
            <a:off x="548640" y="1600200"/>
            <a:ext cx="4389120" cy="2743200"/>
          </a:xfrm>
          <a:prstGeom prst="rect">
            <a:avLst/>
          </a:prstGeom>
          <a:noFill/>
          <a:ln/>
        </p:spPr>
        <p:txBody>
          <a:bodyPr wrap="square" lIns="0" tIns="0" rIns="0" bIns="0" rtlCol="0" anchor="t"/>
          <a:lstStyle/>
          <a:p>
            <a:pPr marL="0" indent="0">
              <a:spcAft>
                <a:spcPts val="1200"/>
              </a:spcAft>
              <a:buNone/>
            </a:pPr>
            <a:r>
              <a:rPr lang="en-US" sz="1100" dirty="0">
                <a:solidFill>
                  <a:srgbClr val="E6EEF9"/>
                </a:solidFill>
                <a:latin typeface="Arial" pitchFamily="34" charset="0"/>
                <a:ea typeface="Arial" pitchFamily="34" charset="-122"/>
                <a:cs typeface="Arial" pitchFamily="34" charset="-120"/>
              </a:rPr>
              <a:t>Current limitations: the campus map is fixed in the program, routes count roads rather than real distance, there is no GPS or traffic information, and routes are shown as text rather than on a map.</a:t>
            </a:r>
            <a:endParaRPr lang="en-US" sz="1100" dirty="0"/>
          </a:p>
          <a:p>
            <a:pPr marL="0" indent="0">
              <a:spcAft>
                <a:spcPts val="1200"/>
              </a:spcAft>
              <a:buNone/>
            </a:pPr>
            <a:r>
              <a:rPr lang="en-US" sz="1100" dirty="0">
                <a:solidFill>
                  <a:srgbClr val="E6EEF9"/>
                </a:solidFill>
                <a:latin typeface="Arial" pitchFamily="34" charset="0"/>
                <a:ea typeface="Arial" pitchFamily="34" charset="-122"/>
                <a:cs typeface="Arial" pitchFamily="34" charset="-120"/>
              </a:rPr>
              <a:t>Planned improvements: GPS-based location tracking, weighted graphs with actual distances, real-time traffic information, interactive maps and dynamic route updates.</a:t>
            </a:r>
            <a:endParaRPr lang="en-US" sz="1100" dirty="0"/>
          </a:p>
        </p:txBody>
      </p:sp>
      <p:sp>
        <p:nvSpPr>
          <p:cNvPr id="4" name="Shape 2"/>
          <p:cNvSpPr/>
          <p:nvPr/>
        </p:nvSpPr>
        <p:spPr>
          <a:xfrm>
            <a:off x="5303520" y="1554480"/>
            <a:ext cx="3291840" cy="502920"/>
          </a:xfrm>
          <a:prstGeom prst="roundRect">
            <a:avLst>
              <a:gd name="adj" fmla="val 50000"/>
            </a:avLst>
          </a:prstGeom>
          <a:solidFill>
            <a:srgbClr val="0B4A98"/>
          </a:solidFill>
          <a:ln/>
        </p:spPr>
      </p:sp>
      <p:sp>
        <p:nvSpPr>
          <p:cNvPr id="5" name="Text 3"/>
          <p:cNvSpPr txBox="1"/>
          <p:nvPr/>
        </p:nvSpPr>
        <p:spPr>
          <a:xfrm>
            <a:off x="5303520" y="1554480"/>
            <a:ext cx="329184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GPS Location Tracking</a:t>
            </a:r>
            <a:endParaRPr lang="en-US" sz="1300" dirty="0"/>
          </a:p>
        </p:txBody>
      </p:sp>
      <p:sp>
        <p:nvSpPr>
          <p:cNvPr id="6" name="Shape 4"/>
          <p:cNvSpPr/>
          <p:nvPr/>
        </p:nvSpPr>
        <p:spPr>
          <a:xfrm>
            <a:off x="5303520" y="2286000"/>
            <a:ext cx="3291840" cy="502920"/>
          </a:xfrm>
          <a:prstGeom prst="roundRect">
            <a:avLst>
              <a:gd name="adj" fmla="val 50000"/>
            </a:avLst>
          </a:prstGeom>
          <a:solidFill>
            <a:srgbClr val="0B4A98"/>
          </a:solidFill>
          <a:ln/>
        </p:spPr>
      </p:sp>
      <p:sp>
        <p:nvSpPr>
          <p:cNvPr id="7" name="Text 5"/>
          <p:cNvSpPr txBox="1"/>
          <p:nvPr/>
        </p:nvSpPr>
        <p:spPr>
          <a:xfrm>
            <a:off x="5303520" y="2286000"/>
            <a:ext cx="329184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Weighted Graph &amp; Distance</a:t>
            </a:r>
            <a:endParaRPr lang="en-US" sz="1300" dirty="0"/>
          </a:p>
        </p:txBody>
      </p:sp>
      <p:sp>
        <p:nvSpPr>
          <p:cNvPr id="8" name="Shape 6"/>
          <p:cNvSpPr/>
          <p:nvPr/>
        </p:nvSpPr>
        <p:spPr>
          <a:xfrm>
            <a:off x="5303520" y="3017520"/>
            <a:ext cx="3291840" cy="502920"/>
          </a:xfrm>
          <a:prstGeom prst="roundRect">
            <a:avLst>
              <a:gd name="adj" fmla="val 50000"/>
            </a:avLst>
          </a:prstGeom>
          <a:solidFill>
            <a:srgbClr val="0B4A98"/>
          </a:solidFill>
          <a:ln/>
        </p:spPr>
      </p:sp>
      <p:sp>
        <p:nvSpPr>
          <p:cNvPr id="9" name="Text 7"/>
          <p:cNvSpPr txBox="1"/>
          <p:nvPr/>
        </p:nvSpPr>
        <p:spPr>
          <a:xfrm>
            <a:off x="5303520" y="3017520"/>
            <a:ext cx="329184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Real-Time Traffic Info</a:t>
            </a:r>
            <a:endParaRPr lang="en-US" sz="1300" dirty="0"/>
          </a:p>
        </p:txBody>
      </p:sp>
      <p:sp>
        <p:nvSpPr>
          <p:cNvPr id="10" name="Shape 8"/>
          <p:cNvSpPr/>
          <p:nvPr/>
        </p:nvSpPr>
        <p:spPr>
          <a:xfrm>
            <a:off x="5303520" y="3749040"/>
            <a:ext cx="3291840" cy="502920"/>
          </a:xfrm>
          <a:prstGeom prst="roundRect">
            <a:avLst>
              <a:gd name="adj" fmla="val 50000"/>
            </a:avLst>
          </a:prstGeom>
          <a:solidFill>
            <a:srgbClr val="0B4A98"/>
          </a:solidFill>
          <a:ln/>
        </p:spPr>
      </p:sp>
      <p:sp>
        <p:nvSpPr>
          <p:cNvPr id="11" name="Text 9"/>
          <p:cNvSpPr txBox="1"/>
          <p:nvPr/>
        </p:nvSpPr>
        <p:spPr>
          <a:xfrm>
            <a:off x="5303520" y="3749040"/>
            <a:ext cx="329184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Interactive Campus Map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TotalTime>
  <Words>668</Words>
  <Application>Microsoft Office PowerPoint</Application>
  <PresentationFormat>On-screen Show (16:9)</PresentationFormat>
  <Paragraphs>80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Route Navigation Using Graph Traversal</dc:title>
  <dc:subject>PptxGenJS Presentation</dc:subject>
  <dc:creator>PptxGenJS</dc:creator>
  <cp:lastModifiedBy>Pooja Singh</cp:lastModifiedBy>
  <cp:revision>2</cp:revision>
  <dcterms:created xsi:type="dcterms:W3CDTF">2026-10-08T14:51:39Z</dcterms:created>
  <dcterms:modified xsi:type="dcterms:W3CDTF">2026-10-08T18:36:34Z</dcterms:modified>
</cp:coreProperties>
</file>